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4"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79" d="100"/>
          <a:sy n="79" d="100"/>
        </p:scale>
        <p:origin x="3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5/7/2021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5/7/2021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5/7/2021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5/7/2021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5/7/2021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5/7/2021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5/7/2021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5/7/2021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5/7/2021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5/7/2021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5/7/2021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5/7/2021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5/7/2021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5/7/2021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5/7/2021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5/7/2021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5/7/2021</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5/7/2021</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hyperlink" Target="https://covid19.ncdc.gov.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4.gif"/></Relationships>
</file>

<file path=ppt/slides/_rels/slide1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FC1E2-AAC3-4981-87D6-DC460794FDEF}"/>
              </a:ext>
            </a:extLst>
          </p:cNvPr>
          <p:cNvSpPr>
            <a:spLocks noGrp="1"/>
          </p:cNvSpPr>
          <p:nvPr>
            <p:ph type="ctrTitle"/>
          </p:nvPr>
        </p:nvSpPr>
        <p:spPr/>
        <p:txBody>
          <a:bodyPr/>
          <a:lstStyle/>
          <a:p>
            <a:r>
              <a:rPr lang="en-US" dirty="0"/>
              <a:t>NIGERIA COVID’19</a:t>
            </a:r>
          </a:p>
        </p:txBody>
      </p:sp>
      <p:sp>
        <p:nvSpPr>
          <p:cNvPr id="3" name="Subtitle 2">
            <a:extLst>
              <a:ext uri="{FF2B5EF4-FFF2-40B4-BE49-F238E27FC236}">
                <a16:creationId xmlns:a16="http://schemas.microsoft.com/office/drawing/2014/main" id="{31EA7603-987A-44CB-89F0-DC32CD91D859}"/>
              </a:ext>
            </a:extLst>
          </p:cNvPr>
          <p:cNvSpPr>
            <a:spLocks noGrp="1"/>
          </p:cNvSpPr>
          <p:nvPr>
            <p:ph type="subTitle" idx="1"/>
          </p:nvPr>
        </p:nvSpPr>
        <p:spPr/>
        <p:txBody>
          <a:bodyPr/>
          <a:lstStyle/>
          <a:p>
            <a:r>
              <a:rPr lang="en-US" dirty="0"/>
              <a:t>BY</a:t>
            </a:r>
          </a:p>
          <a:p>
            <a:r>
              <a:rPr lang="en-US" dirty="0"/>
              <a:t>EMMANUEL EBIENDELE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55792"/>
            <a:ext cx="902208" cy="902208"/>
          </a:xfrm>
          <a:prstGeom prst="rect">
            <a:avLst/>
          </a:prstGeom>
        </p:spPr>
      </p:pic>
    </p:spTree>
    <p:extLst>
      <p:ext uri="{BB962C8B-B14F-4D97-AF65-F5344CB8AC3E}">
        <p14:creationId xmlns:p14="http://schemas.microsoft.com/office/powerpoint/2010/main" val="2405337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50533-72F4-4937-885A-D27AF66C1FD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ACDD7CE6-532B-43DC-BCC4-ECDD400BE22A}"/>
              </a:ext>
            </a:extLst>
          </p:cNvPr>
          <p:cNvSpPr>
            <a:spLocks noGrp="1"/>
          </p:cNvSpPr>
          <p:nvPr>
            <p:ph idx="1"/>
          </p:nvPr>
        </p:nvSpPr>
        <p:spPr/>
        <p:txBody>
          <a:bodyPr/>
          <a:lstStyle/>
          <a:p>
            <a:pPr>
              <a:buFont typeface="Wingdings" panose="05000000000000000000" pitchFamily="2" charset="2"/>
              <a:buChar char="§"/>
            </a:pPr>
            <a:r>
              <a:rPr lang="en-US" dirty="0"/>
              <a:t>OVERVIEW</a:t>
            </a:r>
          </a:p>
          <a:p>
            <a:pPr>
              <a:buFont typeface="Wingdings" panose="05000000000000000000" pitchFamily="2" charset="2"/>
              <a:buChar char="§"/>
            </a:pPr>
            <a:r>
              <a:rPr lang="en-US" dirty="0"/>
              <a:t>DATA SOURCE</a:t>
            </a:r>
          </a:p>
          <a:p>
            <a:pPr>
              <a:buFont typeface="Wingdings" panose="05000000000000000000" pitchFamily="2" charset="2"/>
              <a:buChar char="§"/>
            </a:pPr>
            <a:r>
              <a:rPr lang="en-US" dirty="0"/>
              <a:t>DATA COLLECTION</a:t>
            </a:r>
          </a:p>
          <a:p>
            <a:pPr>
              <a:buFont typeface="Wingdings" panose="05000000000000000000" pitchFamily="2" charset="2"/>
              <a:buChar char="§"/>
            </a:pPr>
            <a:r>
              <a:rPr lang="en-US" dirty="0"/>
              <a:t>DATA CLEANING &amp; PREPARATION</a:t>
            </a:r>
          </a:p>
          <a:p>
            <a:pPr>
              <a:buFont typeface="Wingdings" panose="05000000000000000000" pitchFamily="2" charset="2"/>
              <a:buChar char="§"/>
            </a:pPr>
            <a:r>
              <a:rPr lang="en-US" dirty="0"/>
              <a:t>ANALYSIS</a:t>
            </a:r>
          </a:p>
          <a:p>
            <a:pPr>
              <a:buFont typeface="Wingdings" panose="05000000000000000000" pitchFamily="2" charset="2"/>
              <a:buChar char="§"/>
            </a:pPr>
            <a:r>
              <a:rPr lang="en-US" dirty="0"/>
              <a:t>CONCLUSION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18669"/>
            <a:ext cx="739331" cy="739331"/>
          </a:xfrm>
          <a:prstGeom prst="rect">
            <a:avLst/>
          </a:prstGeom>
        </p:spPr>
      </p:pic>
    </p:spTree>
    <p:extLst>
      <p:ext uri="{BB962C8B-B14F-4D97-AF65-F5344CB8AC3E}">
        <p14:creationId xmlns:p14="http://schemas.microsoft.com/office/powerpoint/2010/main" val="3830796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198A-B6B3-4061-AA6A-65C48B57B334}"/>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3143CF88-AF34-4182-903A-5E48FE169CC0}"/>
              </a:ext>
            </a:extLst>
          </p:cNvPr>
          <p:cNvSpPr>
            <a:spLocks noGrp="1"/>
          </p:cNvSpPr>
          <p:nvPr>
            <p:ph idx="1"/>
          </p:nvPr>
        </p:nvSpPr>
        <p:spPr/>
        <p:txBody>
          <a:bodyPr/>
          <a:lstStyle/>
          <a:p>
            <a:pPr>
              <a:buFont typeface="Wingdings" panose="05000000000000000000" pitchFamily="2" charset="2"/>
              <a:buChar char="v"/>
            </a:pPr>
            <a:r>
              <a:rPr lang="en-US" dirty="0"/>
              <a:t>Coronavirus (Covid’19) are known as respiratory viruses that can cause illness in people and animals. In rear cases, these virus circulate among animals which can evolve and infect humans.</a:t>
            </a:r>
          </a:p>
          <a:p>
            <a:pPr>
              <a:buFont typeface="Wingdings" panose="05000000000000000000" pitchFamily="2" charset="2"/>
              <a:buChar char="v"/>
            </a:pPr>
            <a:r>
              <a:rPr lang="en-US" dirty="0"/>
              <a:t>Coronavirus(Covid’19) has affected different people in various different ways. Most of these symptoms are caused by fever, dry cough, tiredness etc.</a:t>
            </a:r>
          </a:p>
          <a:p>
            <a:pPr>
              <a:buFont typeface="Wingdings" panose="05000000000000000000" pitchFamily="2" charset="2"/>
              <a:buChar char="v"/>
            </a:pPr>
            <a:r>
              <a:rPr lang="en-US" dirty="0"/>
              <a:t>Coronavirus (Covid’19) are also infectious and these virus has a fast spread in various countries in the world, in which Nigeria is also part of the affected countries in the world.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97168"/>
            <a:ext cx="560832" cy="560832"/>
          </a:xfrm>
          <a:prstGeom prst="rect">
            <a:avLst/>
          </a:prstGeom>
        </p:spPr>
      </p:pic>
    </p:spTree>
    <p:extLst>
      <p:ext uri="{BB962C8B-B14F-4D97-AF65-F5344CB8AC3E}">
        <p14:creationId xmlns:p14="http://schemas.microsoft.com/office/powerpoint/2010/main" val="2264175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6888E-E0A5-42F2-9CF0-3B9CB3DA8F85}"/>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CE2D7C01-9A36-478C-8FAA-9996B40F68B6}"/>
              </a:ext>
            </a:extLst>
          </p:cNvPr>
          <p:cNvSpPr>
            <a:spLocks noGrp="1"/>
          </p:cNvSpPr>
          <p:nvPr>
            <p:ph idx="1"/>
          </p:nvPr>
        </p:nvSpPr>
        <p:spPr/>
        <p:txBody>
          <a:bodyPr/>
          <a:lstStyle/>
          <a:p>
            <a:pPr>
              <a:buFont typeface="Wingdings" panose="05000000000000000000" pitchFamily="2" charset="2"/>
              <a:buChar char="v"/>
            </a:pPr>
            <a:r>
              <a:rPr lang="en-US" dirty="0"/>
              <a:t>Due to this spread of coronavirus (covid’19) most countries in the world like Nigeria were force to shut down all activities such as workplaces, Airport etc. which affected the growth of Nigeria economy.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52781"/>
            <a:ext cx="605219" cy="605219"/>
          </a:xfrm>
          <a:prstGeom prst="rect">
            <a:avLst/>
          </a:prstGeom>
        </p:spPr>
      </p:pic>
    </p:spTree>
    <p:extLst>
      <p:ext uri="{BB962C8B-B14F-4D97-AF65-F5344CB8AC3E}">
        <p14:creationId xmlns:p14="http://schemas.microsoft.com/office/powerpoint/2010/main" val="271290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1A394-64CF-4BCC-A91D-955DE80A9CD6}"/>
              </a:ext>
            </a:extLst>
          </p:cNvPr>
          <p:cNvSpPr>
            <a:spLocks noGrp="1"/>
          </p:cNvSpPr>
          <p:nvPr>
            <p:ph type="title"/>
          </p:nvPr>
        </p:nvSpPr>
        <p:spPr/>
        <p:txBody>
          <a:bodyPr/>
          <a:lstStyle/>
          <a:p>
            <a:r>
              <a:rPr lang="en-US" dirty="0"/>
              <a:t>DATA SOURCE</a:t>
            </a:r>
          </a:p>
        </p:txBody>
      </p:sp>
      <p:sp>
        <p:nvSpPr>
          <p:cNvPr id="3" name="Content Placeholder 2">
            <a:extLst>
              <a:ext uri="{FF2B5EF4-FFF2-40B4-BE49-F238E27FC236}">
                <a16:creationId xmlns:a16="http://schemas.microsoft.com/office/drawing/2014/main" id="{3A5E846E-3CC5-46BD-8196-90EB9EBCE2ED}"/>
              </a:ext>
            </a:extLst>
          </p:cNvPr>
          <p:cNvSpPr>
            <a:spLocks noGrp="1"/>
          </p:cNvSpPr>
          <p:nvPr>
            <p:ph idx="1"/>
          </p:nvPr>
        </p:nvSpPr>
        <p:spPr/>
        <p:txBody>
          <a:bodyPr/>
          <a:lstStyle/>
          <a:p>
            <a:pPr>
              <a:buFont typeface="Wingdings" panose="05000000000000000000" pitchFamily="2" charset="2"/>
              <a:buChar char="Ø"/>
            </a:pPr>
            <a:r>
              <a:rPr lang="en-US" dirty="0"/>
              <a:t>NCDC WEBSITE: The Nigeria center for Diseases Control (NCDC) monitors the country’s COVID-19 situation, and releases data on metrics across all the 36 states in the country. From NCDC COVID-19 official website </a:t>
            </a:r>
            <a:r>
              <a:rPr lang="en-US" dirty="0">
                <a:hlinkClick r:id="rId2"/>
              </a:rPr>
              <a:t>https://covid19.ncdc.gov.ng/</a:t>
            </a:r>
            <a:r>
              <a:rPr lang="en-US" dirty="0"/>
              <a:t> , we’ll obtain the data by performing a web extraction or web scrapping. </a:t>
            </a:r>
          </a:p>
          <a:p>
            <a:pPr>
              <a:buFont typeface="Wingdings" panose="05000000000000000000" pitchFamily="2" charset="2"/>
              <a:buChar char="Ø"/>
            </a:pPr>
            <a:r>
              <a:rPr lang="en-US" dirty="0"/>
              <a:t>JOHN HOPKINS DATA RESPIRATORY: The John Hopkins University Center for Systems Science &amp; Engineering (JHU CSSE) publishes daily data on confirmed, death and recovered cases across different countries. We’ll access the daily data for Nigeria from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00932"/>
            <a:ext cx="557068" cy="557068"/>
          </a:xfrm>
          <a:prstGeom prst="rect">
            <a:avLst/>
          </a:prstGeom>
        </p:spPr>
      </p:pic>
    </p:spTree>
    <p:extLst>
      <p:ext uri="{BB962C8B-B14F-4D97-AF65-F5344CB8AC3E}">
        <p14:creationId xmlns:p14="http://schemas.microsoft.com/office/powerpoint/2010/main" val="1059426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00990-8791-4210-8107-C05BA92D8062}"/>
              </a:ext>
            </a:extLst>
          </p:cNvPr>
          <p:cNvSpPr>
            <a:spLocks noGrp="1"/>
          </p:cNvSpPr>
          <p:nvPr>
            <p:ph type="title"/>
          </p:nvPr>
        </p:nvSpPr>
        <p:spPr/>
        <p:txBody>
          <a:bodyPr/>
          <a:lstStyle/>
          <a:p>
            <a:r>
              <a:rPr lang="en-US" dirty="0"/>
              <a:t>DATA SOURCE</a:t>
            </a:r>
          </a:p>
        </p:txBody>
      </p:sp>
      <p:sp>
        <p:nvSpPr>
          <p:cNvPr id="3" name="Content Placeholder 2">
            <a:extLst>
              <a:ext uri="{FF2B5EF4-FFF2-40B4-BE49-F238E27FC236}">
                <a16:creationId xmlns:a16="http://schemas.microsoft.com/office/drawing/2014/main" id="{98EC4286-296A-4DC8-8E4A-D2EB03A04076}"/>
              </a:ext>
            </a:extLst>
          </p:cNvPr>
          <p:cNvSpPr>
            <a:spLocks noGrp="1"/>
          </p:cNvSpPr>
          <p:nvPr>
            <p:ph idx="1"/>
          </p:nvPr>
        </p:nvSpPr>
        <p:spPr/>
        <p:txBody>
          <a:bodyPr/>
          <a:lstStyle/>
          <a:p>
            <a:pPr marL="0" indent="0">
              <a:buNone/>
            </a:pPr>
            <a:r>
              <a:rPr lang="en-US" dirty="0"/>
              <a:t>Their respiratory and derive related insights.</a:t>
            </a:r>
          </a:p>
          <a:p>
            <a:pPr marL="0" indent="0">
              <a:buNone/>
            </a:pPr>
            <a:endParaRPr lang="en-US" dirty="0"/>
          </a:p>
          <a:p>
            <a:pPr>
              <a:buFont typeface="Wingdings" panose="05000000000000000000" pitchFamily="2" charset="2"/>
              <a:buChar char="Ø"/>
            </a:pPr>
            <a:r>
              <a:rPr lang="en-US" dirty="0"/>
              <a:t>External Data: Additional data from other sources</a:t>
            </a:r>
          </a:p>
          <a:p>
            <a:pPr>
              <a:buFont typeface="Wingdings" panose="05000000000000000000" pitchFamily="2" charset="2"/>
              <a:buChar char="q"/>
            </a:pPr>
            <a:r>
              <a:rPr lang="en-US" dirty="0"/>
              <a:t> </a:t>
            </a:r>
            <a:r>
              <a:rPr lang="en-US" dirty="0" err="1" smtClean="0"/>
              <a:t>Covid</a:t>
            </a:r>
            <a:r>
              <a:rPr lang="en-US" dirty="0" smtClean="0"/>
              <a:t> </a:t>
            </a:r>
            <a:r>
              <a:rPr lang="en-US" dirty="0"/>
              <a:t>External – Nigeria Community Vulnerability Index data</a:t>
            </a:r>
          </a:p>
          <a:p>
            <a:pPr>
              <a:buFont typeface="Wingdings" panose="05000000000000000000" pitchFamily="2" charset="2"/>
              <a:buChar char="q"/>
            </a:pPr>
            <a:r>
              <a:rPr lang="en-US" dirty="0"/>
              <a:t> Budget Data- State Budget Data</a:t>
            </a:r>
          </a:p>
          <a:p>
            <a:pPr>
              <a:buFont typeface="Wingdings" panose="05000000000000000000" pitchFamily="2" charset="2"/>
              <a:buChar char="q"/>
            </a:pPr>
            <a:r>
              <a:rPr lang="en-US" dirty="0"/>
              <a:t> Real GDP- Real Domestic Gross Product Data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45936"/>
            <a:ext cx="512064" cy="512064"/>
          </a:xfrm>
          <a:prstGeom prst="rect">
            <a:avLst/>
          </a:prstGeom>
        </p:spPr>
      </p:pic>
    </p:spTree>
    <p:extLst>
      <p:ext uri="{BB962C8B-B14F-4D97-AF65-F5344CB8AC3E}">
        <p14:creationId xmlns:p14="http://schemas.microsoft.com/office/powerpoint/2010/main" val="3483687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C2C3-ADC7-4A4A-BFD4-B85DA93226BE}"/>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9E1DC7DA-1DED-4684-9455-09E71AC54F80}"/>
              </a:ext>
            </a:extLst>
          </p:cNvPr>
          <p:cNvSpPr>
            <a:spLocks noGrp="1"/>
          </p:cNvSpPr>
          <p:nvPr>
            <p:ph idx="1"/>
          </p:nvPr>
        </p:nvSpPr>
        <p:spPr/>
        <p:txBody>
          <a:bodyPr/>
          <a:lstStyle/>
          <a:p>
            <a:pPr>
              <a:buFont typeface="Wingdings" panose="05000000000000000000" pitchFamily="2" charset="2"/>
              <a:buChar char="v"/>
            </a:pPr>
            <a:r>
              <a:rPr lang="en-US" dirty="0"/>
              <a:t> The use of web scrapping of data from NCDC website was obtained.</a:t>
            </a:r>
          </a:p>
          <a:p>
            <a:pPr marL="0" indent="0">
              <a:buNone/>
            </a:pPr>
            <a:endParaRPr lang="en-US" dirty="0"/>
          </a:p>
          <a:p>
            <a:pPr>
              <a:buFont typeface="Wingdings" panose="05000000000000000000" pitchFamily="2" charset="2"/>
              <a:buChar char="v"/>
            </a:pPr>
            <a:r>
              <a:rPr lang="en-US" dirty="0"/>
              <a:t> John Hopkins: Data were imported from </a:t>
            </a:r>
            <a:r>
              <a:rPr lang="en-US" dirty="0" err="1"/>
              <a:t>Github</a:t>
            </a:r>
            <a:r>
              <a:rPr lang="en-US" dirty="0"/>
              <a:t> repository.</a:t>
            </a:r>
          </a:p>
          <a:p>
            <a:pPr marL="0" indent="0">
              <a:buNone/>
            </a:pPr>
            <a:endParaRPr lang="en-US" dirty="0"/>
          </a:p>
          <a:p>
            <a:pPr>
              <a:buFont typeface="Wingdings" panose="05000000000000000000" pitchFamily="2" charset="2"/>
              <a:buChar char="v"/>
            </a:pPr>
            <a:r>
              <a:rPr lang="en-US" dirty="0"/>
              <a:t> The External Data: Such as </a:t>
            </a:r>
            <a:r>
              <a:rPr lang="en-US" dirty="0" err="1"/>
              <a:t>Covid</a:t>
            </a:r>
            <a:r>
              <a:rPr lang="en-US" dirty="0"/>
              <a:t> External Data, Budget Data &amp; Real GDP were imported from a local storage.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0693"/>
            <a:ext cx="547307" cy="547307"/>
          </a:xfrm>
          <a:prstGeom prst="rect">
            <a:avLst/>
          </a:prstGeom>
        </p:spPr>
      </p:pic>
    </p:spTree>
    <p:extLst>
      <p:ext uri="{BB962C8B-B14F-4D97-AF65-F5344CB8AC3E}">
        <p14:creationId xmlns:p14="http://schemas.microsoft.com/office/powerpoint/2010/main" val="2314715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EBCED-CC27-46F5-927D-45F908F977F4}"/>
              </a:ext>
            </a:extLst>
          </p:cNvPr>
          <p:cNvSpPr>
            <a:spLocks noGrp="1"/>
          </p:cNvSpPr>
          <p:nvPr>
            <p:ph type="title"/>
          </p:nvPr>
        </p:nvSpPr>
        <p:spPr/>
        <p:txBody>
          <a:bodyPr/>
          <a:lstStyle/>
          <a:p>
            <a:r>
              <a:rPr lang="en-US" dirty="0"/>
              <a:t>DATA CLEANING &amp; PREPARATION</a:t>
            </a:r>
          </a:p>
        </p:txBody>
      </p:sp>
      <p:sp>
        <p:nvSpPr>
          <p:cNvPr id="3" name="Content Placeholder 2">
            <a:extLst>
              <a:ext uri="{FF2B5EF4-FFF2-40B4-BE49-F238E27FC236}">
                <a16:creationId xmlns:a16="http://schemas.microsoft.com/office/drawing/2014/main" id="{792036A9-4BA6-42EC-812A-C440423CFF50}"/>
              </a:ext>
            </a:extLst>
          </p:cNvPr>
          <p:cNvSpPr>
            <a:spLocks noGrp="1"/>
          </p:cNvSpPr>
          <p:nvPr>
            <p:ph idx="1"/>
          </p:nvPr>
        </p:nvSpPr>
        <p:spPr/>
        <p:txBody>
          <a:bodyPr/>
          <a:lstStyle/>
          <a:p>
            <a:pPr marL="0" indent="0">
              <a:buNone/>
            </a:pPr>
            <a:r>
              <a:rPr lang="en-US" dirty="0"/>
              <a:t>The following method used for cleaning and preparing the dataset for data analysis includes:</a:t>
            </a:r>
          </a:p>
          <a:p>
            <a:pPr>
              <a:buFont typeface="Wingdings" panose="05000000000000000000" pitchFamily="2" charset="2"/>
              <a:buChar char="v"/>
            </a:pPr>
            <a:r>
              <a:rPr lang="en-US" dirty="0"/>
              <a:t>NCDC DATA</a:t>
            </a:r>
          </a:p>
          <a:p>
            <a:pPr>
              <a:buFont typeface="Wingdings" panose="05000000000000000000" pitchFamily="2" charset="2"/>
              <a:buChar char="§"/>
            </a:pPr>
            <a:r>
              <a:rPr lang="en-US" dirty="0"/>
              <a:t> The data type were converted with the use of appropriate string</a:t>
            </a:r>
          </a:p>
          <a:p>
            <a:pPr>
              <a:buFont typeface="Wingdings" panose="05000000000000000000" pitchFamily="2" charset="2"/>
              <a:buChar char="§"/>
            </a:pPr>
            <a:r>
              <a:rPr lang="en-US" dirty="0"/>
              <a:t>The date column were renamed from the scraped data while the default column names were removed from the scraped data.</a:t>
            </a:r>
          </a:p>
          <a:p>
            <a:pPr>
              <a:buFont typeface="Wingdings" panose="05000000000000000000" pitchFamily="2" charset="2"/>
              <a:buChar char="§"/>
            </a:pPr>
            <a:r>
              <a:rPr lang="en-US" dirty="0"/>
              <a:t>The comma and extra white spaces were also removed from the dataset in other to have a refined table.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47269"/>
            <a:ext cx="510731" cy="510731"/>
          </a:xfrm>
          <a:prstGeom prst="rect">
            <a:avLst/>
          </a:prstGeom>
        </p:spPr>
      </p:pic>
    </p:spTree>
    <p:extLst>
      <p:ext uri="{BB962C8B-B14F-4D97-AF65-F5344CB8AC3E}">
        <p14:creationId xmlns:p14="http://schemas.microsoft.com/office/powerpoint/2010/main" val="1682761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A5BE0-93BB-4E3C-A211-25882F34BF23}"/>
              </a:ext>
            </a:extLst>
          </p:cNvPr>
          <p:cNvSpPr>
            <a:spLocks noGrp="1"/>
          </p:cNvSpPr>
          <p:nvPr>
            <p:ph type="title"/>
          </p:nvPr>
        </p:nvSpPr>
        <p:spPr/>
        <p:txBody>
          <a:bodyPr/>
          <a:lstStyle/>
          <a:p>
            <a:r>
              <a:rPr lang="en-US" dirty="0"/>
              <a:t>DATA CLEANING &amp; PREPARATION</a:t>
            </a:r>
          </a:p>
        </p:txBody>
      </p:sp>
      <p:sp>
        <p:nvSpPr>
          <p:cNvPr id="3" name="Content Placeholder 2">
            <a:extLst>
              <a:ext uri="{FF2B5EF4-FFF2-40B4-BE49-F238E27FC236}">
                <a16:creationId xmlns:a16="http://schemas.microsoft.com/office/drawing/2014/main" id="{977B144E-A3C6-4B74-A80E-E19092DC34E3}"/>
              </a:ext>
            </a:extLst>
          </p:cNvPr>
          <p:cNvSpPr>
            <a:spLocks noGrp="1"/>
          </p:cNvSpPr>
          <p:nvPr>
            <p:ph idx="1"/>
          </p:nvPr>
        </p:nvSpPr>
        <p:spPr/>
        <p:txBody>
          <a:bodyPr/>
          <a:lstStyle/>
          <a:p>
            <a:pPr>
              <a:buFont typeface="Wingdings" panose="05000000000000000000" pitchFamily="2" charset="2"/>
              <a:buChar char="v"/>
            </a:pPr>
            <a:r>
              <a:rPr lang="en-US" dirty="0"/>
              <a:t> JOHN HOPKINS DATA</a:t>
            </a:r>
          </a:p>
          <a:p>
            <a:pPr>
              <a:buFont typeface="Wingdings" panose="05000000000000000000" pitchFamily="2" charset="2"/>
              <a:buChar char="§"/>
            </a:pPr>
            <a:r>
              <a:rPr lang="en-US" dirty="0"/>
              <a:t>The daily Nigeria confirmed cases, recovered and death case data were gotten from the global data respiratory used for data analysis.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5077"/>
            <a:ext cx="522923" cy="522923"/>
          </a:xfrm>
          <a:prstGeom prst="rect">
            <a:avLst/>
          </a:prstGeom>
        </p:spPr>
      </p:pic>
    </p:spTree>
    <p:extLst>
      <p:ext uri="{BB962C8B-B14F-4D97-AF65-F5344CB8AC3E}">
        <p14:creationId xmlns:p14="http://schemas.microsoft.com/office/powerpoint/2010/main" val="1743464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7A98-88CC-49F5-BF73-E64BB142A999}"/>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3AD81BB1-456D-409F-B9F6-40FDB6D23C3E}"/>
              </a:ext>
            </a:extLst>
          </p:cNvPr>
          <p:cNvSpPr>
            <a:spLocks noGrp="1"/>
          </p:cNvSpPr>
          <p:nvPr>
            <p:ph sz="half" idx="1"/>
          </p:nvPr>
        </p:nvSpPr>
        <p:spPr/>
        <p:txBody>
          <a:bodyPr/>
          <a:lstStyle/>
          <a:p>
            <a:pPr>
              <a:buFont typeface="Wingdings" panose="05000000000000000000" pitchFamily="2" charset="2"/>
              <a:buChar char="Ø"/>
            </a:pPr>
            <a:r>
              <a:rPr lang="en-US" dirty="0"/>
              <a:t> The following chat shows the top 10 states with confirmed covid’19 cases by a laboratory test in Nigeria.</a:t>
            </a:r>
          </a:p>
          <a:p>
            <a:pPr>
              <a:buFont typeface="Wingdings" panose="05000000000000000000" pitchFamily="2" charset="2"/>
              <a:buChar char="Ø"/>
            </a:pPr>
            <a:endParaRPr lang="en-US" dirty="0"/>
          </a:p>
          <a:p>
            <a:pPr>
              <a:buFont typeface="Wingdings" panose="05000000000000000000" pitchFamily="2" charset="2"/>
              <a:buChar char="Ø"/>
            </a:pPr>
            <a:r>
              <a:rPr lang="en-US" dirty="0"/>
              <a:t> Lagos state has the highest number of confirmed covid’19 cases followed FCT then Kaduna.</a:t>
            </a:r>
          </a:p>
          <a:p>
            <a:pPr marL="0" indent="0">
              <a:buNone/>
            </a:pPr>
            <a:endParaRPr lang="en-US" dirty="0"/>
          </a:p>
        </p:txBody>
      </p:sp>
      <p:pic>
        <p:nvPicPr>
          <p:cNvPr id="6" name="Content Placeholder 5">
            <a:extLst>
              <a:ext uri="{FF2B5EF4-FFF2-40B4-BE49-F238E27FC236}">
                <a16:creationId xmlns:a16="http://schemas.microsoft.com/office/drawing/2014/main" id="{FDB66B47-401C-4318-A41F-3A32B43C3D98}"/>
              </a:ext>
            </a:extLst>
          </p:cNvPr>
          <p:cNvPicPr>
            <a:picLocks noGrp="1" noChangeAspect="1"/>
          </p:cNvPicPr>
          <p:nvPr>
            <p:ph sz="half" idx="2"/>
          </p:nvPr>
        </p:nvPicPr>
        <p:blipFill>
          <a:blip r:embed="rId2"/>
          <a:stretch>
            <a:fillRect/>
          </a:stretch>
        </p:blipFill>
        <p:spPr>
          <a:xfrm>
            <a:off x="5378678" y="2336873"/>
            <a:ext cx="6386602" cy="3986784"/>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6" y="6338125"/>
            <a:ext cx="519875" cy="519875"/>
          </a:xfrm>
          <a:prstGeom prst="rect">
            <a:avLst/>
          </a:prstGeom>
        </p:spPr>
      </p:pic>
    </p:spTree>
    <p:extLst>
      <p:ext uri="{BB962C8B-B14F-4D97-AF65-F5344CB8AC3E}">
        <p14:creationId xmlns:p14="http://schemas.microsoft.com/office/powerpoint/2010/main" val="2472972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3174-8206-4537-8436-7DDDB54AB390}"/>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3500684D-6F8B-40C6-A7C4-C3C5CF294B72}"/>
              </a:ext>
            </a:extLst>
          </p:cNvPr>
          <p:cNvSpPr>
            <a:spLocks noGrp="1"/>
          </p:cNvSpPr>
          <p:nvPr>
            <p:ph sz="half" idx="1"/>
          </p:nvPr>
        </p:nvSpPr>
        <p:spPr/>
        <p:txBody>
          <a:bodyPr/>
          <a:lstStyle/>
          <a:p>
            <a:pPr>
              <a:buFont typeface="Wingdings" panose="05000000000000000000" pitchFamily="2" charset="2"/>
              <a:buChar char="Ø"/>
            </a:pPr>
            <a:r>
              <a:rPr lang="en-US" dirty="0"/>
              <a:t> The following chats shows the top 10 discharged cases in Nigeria.</a:t>
            </a:r>
          </a:p>
          <a:p>
            <a:pPr>
              <a:buFont typeface="Wingdings" panose="05000000000000000000" pitchFamily="2" charset="2"/>
              <a:buChar char="Ø"/>
            </a:pPr>
            <a:endParaRPr lang="en-US" dirty="0"/>
          </a:p>
          <a:p>
            <a:pPr>
              <a:buFont typeface="Wingdings" panose="05000000000000000000" pitchFamily="2" charset="2"/>
              <a:buChar char="Ø"/>
            </a:pPr>
            <a:r>
              <a:rPr lang="en-US" dirty="0"/>
              <a:t> Lagos State has the highest discharged cases followed by FCT then Plateau</a:t>
            </a:r>
          </a:p>
        </p:txBody>
      </p:sp>
      <p:pic>
        <p:nvPicPr>
          <p:cNvPr id="6" name="Content Placeholder 5">
            <a:extLst>
              <a:ext uri="{FF2B5EF4-FFF2-40B4-BE49-F238E27FC236}">
                <a16:creationId xmlns:a16="http://schemas.microsoft.com/office/drawing/2014/main" id="{30445C48-B1E3-41C3-81D8-89D23F9B6036}"/>
              </a:ext>
            </a:extLst>
          </p:cNvPr>
          <p:cNvPicPr>
            <a:picLocks noGrp="1" noChangeAspect="1"/>
          </p:cNvPicPr>
          <p:nvPr>
            <p:ph sz="half" idx="2"/>
          </p:nvPr>
        </p:nvPicPr>
        <p:blipFill>
          <a:blip r:embed="rId2"/>
          <a:stretch>
            <a:fillRect/>
          </a:stretch>
        </p:blipFill>
        <p:spPr>
          <a:xfrm>
            <a:off x="5378678" y="2336873"/>
            <a:ext cx="6532906" cy="4023359"/>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47885"/>
            <a:ext cx="510115" cy="510115"/>
          </a:xfrm>
          <a:prstGeom prst="rect">
            <a:avLst/>
          </a:prstGeom>
        </p:spPr>
      </p:pic>
    </p:spTree>
    <p:extLst>
      <p:ext uri="{BB962C8B-B14F-4D97-AF65-F5344CB8AC3E}">
        <p14:creationId xmlns:p14="http://schemas.microsoft.com/office/powerpoint/2010/main" val="1468641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6795F-23D2-4DB7-9165-4AD9477682DF}"/>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64D40E95-7B85-4183-8FED-249BAD9DB433}"/>
              </a:ext>
            </a:extLst>
          </p:cNvPr>
          <p:cNvSpPr>
            <a:spLocks noGrp="1"/>
          </p:cNvSpPr>
          <p:nvPr>
            <p:ph sz="half" idx="1"/>
          </p:nvPr>
        </p:nvSpPr>
        <p:spPr/>
        <p:txBody>
          <a:bodyPr/>
          <a:lstStyle/>
          <a:p>
            <a:pPr>
              <a:buFont typeface="Wingdings" panose="05000000000000000000" pitchFamily="2" charset="2"/>
              <a:buChar char="Ø"/>
            </a:pPr>
            <a:r>
              <a:rPr lang="en-US" dirty="0"/>
              <a:t> The following chat shows the top 10 states with death covid’19 cases</a:t>
            </a:r>
          </a:p>
          <a:p>
            <a:pPr>
              <a:buFont typeface="Wingdings" panose="05000000000000000000" pitchFamily="2" charset="2"/>
              <a:buChar char="Ø"/>
            </a:pPr>
            <a:endParaRPr lang="en-US" dirty="0"/>
          </a:p>
          <a:p>
            <a:pPr>
              <a:buFont typeface="Wingdings" panose="05000000000000000000" pitchFamily="2" charset="2"/>
              <a:buChar char="Ø"/>
            </a:pPr>
            <a:r>
              <a:rPr lang="en-US" dirty="0"/>
              <a:t> Lagos state has the highest death cases followed by Edo state then FCT.</a:t>
            </a:r>
          </a:p>
        </p:txBody>
      </p:sp>
      <p:pic>
        <p:nvPicPr>
          <p:cNvPr id="6" name="Content Placeholder 5">
            <a:extLst>
              <a:ext uri="{FF2B5EF4-FFF2-40B4-BE49-F238E27FC236}">
                <a16:creationId xmlns:a16="http://schemas.microsoft.com/office/drawing/2014/main" id="{2BC53A22-A016-43F9-978B-FAFB84B1DC0F}"/>
              </a:ext>
            </a:extLst>
          </p:cNvPr>
          <p:cNvPicPr>
            <a:picLocks noGrp="1" noChangeAspect="1"/>
          </p:cNvPicPr>
          <p:nvPr>
            <p:ph sz="half" idx="2"/>
          </p:nvPr>
        </p:nvPicPr>
        <p:blipFill>
          <a:blip r:embed="rId2"/>
          <a:stretch>
            <a:fillRect/>
          </a:stretch>
        </p:blipFill>
        <p:spPr>
          <a:xfrm>
            <a:off x="5291328" y="2336873"/>
            <a:ext cx="6510528" cy="3962400"/>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 y="6338125"/>
            <a:ext cx="519875" cy="519875"/>
          </a:xfrm>
          <a:prstGeom prst="rect">
            <a:avLst/>
          </a:prstGeom>
        </p:spPr>
      </p:pic>
    </p:spTree>
    <p:extLst>
      <p:ext uri="{BB962C8B-B14F-4D97-AF65-F5344CB8AC3E}">
        <p14:creationId xmlns:p14="http://schemas.microsoft.com/office/powerpoint/2010/main" val="1757989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AB4D-CA9F-4397-BF27-4C39B8B3278F}"/>
              </a:ext>
            </a:extLst>
          </p:cNvPr>
          <p:cNvSpPr>
            <a:spLocks noGrp="1"/>
          </p:cNvSpPr>
          <p:nvPr>
            <p:ph type="title"/>
          </p:nvPr>
        </p:nvSpPr>
        <p:spPr/>
        <p:txBody>
          <a:bodyPr/>
          <a:lstStyle/>
          <a:p>
            <a:r>
              <a:rPr lang="en-US" dirty="0"/>
              <a:t>THE NEXT SLIDE SHOWS THE FOLLOWING CHAT OF TOP ACTIVE CASES IN NIGERIA (MAY 4</a:t>
            </a:r>
            <a:r>
              <a:rPr lang="en-US" baseline="30000" dirty="0"/>
              <a:t>TH</a:t>
            </a:r>
            <a:r>
              <a:rPr lang="en-US" dirty="0"/>
              <a:t>, 2021)</a:t>
            </a:r>
          </a:p>
        </p:txBody>
      </p:sp>
      <p:sp>
        <p:nvSpPr>
          <p:cNvPr id="3" name="Text Placeholder 2">
            <a:extLst>
              <a:ext uri="{FF2B5EF4-FFF2-40B4-BE49-F238E27FC236}">
                <a16:creationId xmlns:a16="http://schemas.microsoft.com/office/drawing/2014/main" id="{CE2C6208-A468-44D9-AA81-D0F32616524E}"/>
              </a:ext>
            </a:extLst>
          </p:cNvPr>
          <p:cNvSpPr>
            <a:spLocks noGrp="1"/>
          </p:cNvSpPr>
          <p:nvPr>
            <p:ph type="body" sz="half" idx="2"/>
          </p:nvPr>
        </p:nvSpPr>
        <p:spPr/>
        <p:txBody>
          <a:bodyPr/>
          <a:lstStyle/>
          <a:p>
            <a:r>
              <a:rPr lang="en-US" dirty="0"/>
              <a:t>NIGERIA COVID’19 REAL TIME DATA ANALYSIS USING PYTHON BY EMMANUEL EBIENDELE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1925"/>
            <a:ext cx="596075" cy="596075"/>
          </a:xfrm>
          <a:prstGeom prst="rect">
            <a:avLst/>
          </a:prstGeom>
        </p:spPr>
      </p:pic>
    </p:spTree>
    <p:extLst>
      <p:ext uri="{BB962C8B-B14F-4D97-AF65-F5344CB8AC3E}">
        <p14:creationId xmlns:p14="http://schemas.microsoft.com/office/powerpoint/2010/main" val="3012497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346DB-725D-4711-97AF-0CFC27B3147D}"/>
              </a:ext>
            </a:extLst>
          </p:cNvPr>
          <p:cNvSpPr>
            <a:spLocks noGrp="1"/>
          </p:cNvSpPr>
          <p:nvPr>
            <p:ph type="title"/>
          </p:nvPr>
        </p:nvSpPr>
        <p:spPr/>
        <p:txBody>
          <a:bodyPr/>
          <a:lstStyle/>
          <a:p>
            <a:r>
              <a:rPr lang="en-US" dirty="0"/>
              <a:t>ANALYSIS</a:t>
            </a:r>
          </a:p>
        </p:txBody>
      </p:sp>
      <p:pic>
        <p:nvPicPr>
          <p:cNvPr id="8" name="Content Placeholder 7">
            <a:extLst>
              <a:ext uri="{FF2B5EF4-FFF2-40B4-BE49-F238E27FC236}">
                <a16:creationId xmlns:a16="http://schemas.microsoft.com/office/drawing/2014/main" id="{A1FC8863-ACDE-44CD-BCC0-7EF7B3FA5AA0}"/>
              </a:ext>
            </a:extLst>
          </p:cNvPr>
          <p:cNvPicPr>
            <a:picLocks noGrp="1" noChangeAspect="1"/>
          </p:cNvPicPr>
          <p:nvPr>
            <p:ph sz="half" idx="1"/>
          </p:nvPr>
        </p:nvPicPr>
        <p:blipFill>
          <a:blip r:embed="rId2"/>
          <a:stretch>
            <a:fillRect/>
          </a:stretch>
        </p:blipFill>
        <p:spPr>
          <a:xfrm>
            <a:off x="195072" y="2007689"/>
            <a:ext cx="9913810" cy="4736352"/>
          </a:xfrm>
        </p:spPr>
      </p:pic>
      <p:pic>
        <p:nvPicPr>
          <p:cNvPr id="4" name="Content Placeholder 3"/>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757819" y="2008188"/>
            <a:ext cx="44450" cy="4445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01612" y="6256686"/>
            <a:ext cx="601314" cy="601314"/>
          </a:xfrm>
          <a:prstGeom prst="rect">
            <a:avLst/>
          </a:prstGeom>
        </p:spPr>
      </p:pic>
    </p:spTree>
    <p:extLst>
      <p:ext uri="{BB962C8B-B14F-4D97-AF65-F5344CB8AC3E}">
        <p14:creationId xmlns:p14="http://schemas.microsoft.com/office/powerpoint/2010/main" val="950653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a:t>
            </a:r>
            <a:endParaRPr lang="en-US" dirty="0"/>
          </a:p>
        </p:txBody>
      </p:sp>
      <p:pic>
        <p:nvPicPr>
          <p:cNvPr id="4" name="Content Placeholder 9">
            <a:extLst>
              <a:ext uri="{FF2B5EF4-FFF2-40B4-BE49-F238E27FC236}">
                <a16:creationId xmlns:a16="http://schemas.microsoft.com/office/drawing/2014/main" id="{D623FE48-AD6E-4035-9F4A-176BE1151801}"/>
              </a:ext>
            </a:extLst>
          </p:cNvPr>
          <p:cNvPicPr>
            <a:picLocks noGrp="1" noChangeAspect="1"/>
          </p:cNvPicPr>
          <p:nvPr>
            <p:ph idx="1"/>
          </p:nvPr>
        </p:nvPicPr>
        <p:blipFill>
          <a:blip r:embed="rId2"/>
          <a:stretch>
            <a:fillRect/>
          </a:stretch>
        </p:blipFill>
        <p:spPr>
          <a:xfrm>
            <a:off x="243840" y="2072640"/>
            <a:ext cx="11106911" cy="425500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6781" y="6252781"/>
            <a:ext cx="605219" cy="605219"/>
          </a:xfrm>
          <a:prstGeom prst="rect">
            <a:avLst/>
          </a:prstGeom>
        </p:spPr>
      </p:pic>
    </p:spTree>
    <p:extLst>
      <p:ext uri="{BB962C8B-B14F-4D97-AF65-F5344CB8AC3E}">
        <p14:creationId xmlns:p14="http://schemas.microsoft.com/office/powerpoint/2010/main" val="2248126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20F2-B4C7-4FD0-8B51-D257986B964C}"/>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EC745128-0431-415B-BA88-1470B6B52F75}"/>
              </a:ext>
            </a:extLst>
          </p:cNvPr>
          <p:cNvSpPr>
            <a:spLocks noGrp="1"/>
          </p:cNvSpPr>
          <p:nvPr>
            <p:ph idx="1"/>
          </p:nvPr>
        </p:nvSpPr>
        <p:spPr/>
        <p:txBody>
          <a:bodyPr/>
          <a:lstStyle/>
          <a:p>
            <a:pPr>
              <a:buFont typeface="Wingdings" panose="05000000000000000000" pitchFamily="2" charset="2"/>
              <a:buChar char="q"/>
            </a:pPr>
            <a:r>
              <a:rPr lang="en-US" dirty="0"/>
              <a:t> In summary of the previous slide Nasarawa has the highest number of active cases in Nigeria followed by Ondo state then Lagos state.</a:t>
            </a:r>
          </a:p>
          <a:p>
            <a:pPr>
              <a:buFont typeface="Wingdings" panose="05000000000000000000" pitchFamily="2" charset="2"/>
              <a:buChar char="q"/>
            </a:pPr>
            <a:endParaRPr lang="en-US" dirty="0"/>
          </a:p>
          <a:p>
            <a:pPr>
              <a:buFont typeface="Wingdings" panose="05000000000000000000" pitchFamily="2" charset="2"/>
              <a:buChar char="Ø"/>
            </a:pPr>
            <a:r>
              <a:rPr lang="en-US" dirty="0"/>
              <a:t> The next slides shows the following line chat of total daily confirmed, recovered and death cases in Nigeria that has occurred from January 2020- May 4</a:t>
            </a:r>
            <a:r>
              <a:rPr lang="en-US" baseline="30000" dirty="0"/>
              <a:t>th</a:t>
            </a:r>
            <a:r>
              <a:rPr lang="en-US" dirty="0"/>
              <a:t>, 2021</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83845"/>
            <a:ext cx="474155" cy="474155"/>
          </a:xfrm>
          <a:prstGeom prst="rect">
            <a:avLst/>
          </a:prstGeom>
        </p:spPr>
      </p:pic>
    </p:spTree>
    <p:extLst>
      <p:ext uri="{BB962C8B-B14F-4D97-AF65-F5344CB8AC3E}">
        <p14:creationId xmlns:p14="http://schemas.microsoft.com/office/powerpoint/2010/main" val="3426460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C01FD-176E-4954-912D-B17852040057}"/>
              </a:ext>
            </a:extLst>
          </p:cNvPr>
          <p:cNvSpPr>
            <a:spLocks noGrp="1"/>
          </p:cNvSpPr>
          <p:nvPr>
            <p:ph type="title"/>
          </p:nvPr>
        </p:nvSpPr>
        <p:spPr/>
        <p:txBody>
          <a:bodyPr/>
          <a:lstStyle/>
          <a:p>
            <a:r>
              <a:rPr lang="en-US" dirty="0"/>
              <a:t>ANALYSIS</a:t>
            </a:r>
          </a:p>
        </p:txBody>
      </p:sp>
      <p:sp>
        <p:nvSpPr>
          <p:cNvPr id="3" name="Text Placeholder 2">
            <a:extLst>
              <a:ext uri="{FF2B5EF4-FFF2-40B4-BE49-F238E27FC236}">
                <a16:creationId xmlns:a16="http://schemas.microsoft.com/office/drawing/2014/main" id="{74AEAD29-8185-4162-BF0C-62448353C0A2}"/>
              </a:ext>
            </a:extLst>
          </p:cNvPr>
          <p:cNvSpPr>
            <a:spLocks noGrp="1"/>
          </p:cNvSpPr>
          <p:nvPr>
            <p:ph type="body" idx="1"/>
          </p:nvPr>
        </p:nvSpPr>
        <p:spPr/>
        <p:txBody>
          <a:bodyPr>
            <a:normAutofit lnSpcReduction="10000"/>
          </a:bodyPr>
          <a:lstStyle/>
          <a:p>
            <a:r>
              <a:rPr lang="en-US" dirty="0" smtClean="0"/>
              <a:t>TOTAL DAILY </a:t>
            </a:r>
            <a:r>
              <a:rPr lang="en-US" dirty="0"/>
              <a:t>CONFIRMED CASES</a:t>
            </a:r>
          </a:p>
        </p:txBody>
      </p:sp>
      <p:pic>
        <p:nvPicPr>
          <p:cNvPr id="8" name="Content Placeholder 7">
            <a:extLst>
              <a:ext uri="{FF2B5EF4-FFF2-40B4-BE49-F238E27FC236}">
                <a16:creationId xmlns:a16="http://schemas.microsoft.com/office/drawing/2014/main" id="{7C5429D1-B5DA-4094-852C-46C90F09EAB1}"/>
              </a:ext>
            </a:extLst>
          </p:cNvPr>
          <p:cNvPicPr>
            <a:picLocks noGrp="1" noChangeAspect="1"/>
          </p:cNvPicPr>
          <p:nvPr>
            <p:ph sz="half" idx="2"/>
          </p:nvPr>
        </p:nvPicPr>
        <p:blipFill>
          <a:blip r:embed="rId2"/>
          <a:stretch>
            <a:fillRect/>
          </a:stretch>
        </p:blipFill>
        <p:spPr>
          <a:xfrm>
            <a:off x="395979" y="3030538"/>
            <a:ext cx="4982698" cy="3297110"/>
          </a:xfrm>
        </p:spPr>
      </p:pic>
      <p:sp>
        <p:nvSpPr>
          <p:cNvPr id="5" name="Text Placeholder 4">
            <a:extLst>
              <a:ext uri="{FF2B5EF4-FFF2-40B4-BE49-F238E27FC236}">
                <a16:creationId xmlns:a16="http://schemas.microsoft.com/office/drawing/2014/main" id="{97530872-1DF5-4390-8B82-DF621EFFD800}"/>
              </a:ext>
            </a:extLst>
          </p:cNvPr>
          <p:cNvSpPr>
            <a:spLocks noGrp="1"/>
          </p:cNvSpPr>
          <p:nvPr>
            <p:ph type="body" sz="quarter" idx="3"/>
          </p:nvPr>
        </p:nvSpPr>
        <p:spPr/>
        <p:txBody>
          <a:bodyPr>
            <a:normAutofit lnSpcReduction="10000"/>
          </a:bodyPr>
          <a:lstStyle/>
          <a:p>
            <a:r>
              <a:rPr lang="en-US" dirty="0" smtClean="0"/>
              <a:t>TOTAL DAILY </a:t>
            </a:r>
            <a:r>
              <a:rPr lang="en-US" dirty="0"/>
              <a:t>RECOVERED CASES</a:t>
            </a:r>
          </a:p>
        </p:txBody>
      </p:sp>
      <p:pic>
        <p:nvPicPr>
          <p:cNvPr id="10" name="Content Placeholder 9">
            <a:extLst>
              <a:ext uri="{FF2B5EF4-FFF2-40B4-BE49-F238E27FC236}">
                <a16:creationId xmlns:a16="http://schemas.microsoft.com/office/drawing/2014/main" id="{2E561193-B1EA-4F08-9C37-D815E56FB306}"/>
              </a:ext>
            </a:extLst>
          </p:cNvPr>
          <p:cNvPicPr>
            <a:picLocks noGrp="1" noChangeAspect="1"/>
          </p:cNvPicPr>
          <p:nvPr>
            <p:ph sz="quarter" idx="4"/>
          </p:nvPr>
        </p:nvPicPr>
        <p:blipFill>
          <a:blip r:embed="rId3"/>
          <a:stretch>
            <a:fillRect/>
          </a:stretch>
        </p:blipFill>
        <p:spPr>
          <a:xfrm>
            <a:off x="5889048" y="3030538"/>
            <a:ext cx="5108136" cy="3297110"/>
          </a:xfr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39" y="6503760"/>
            <a:ext cx="354240" cy="354240"/>
          </a:xfrm>
          <a:prstGeom prst="rect">
            <a:avLst/>
          </a:prstGeom>
        </p:spPr>
      </p:pic>
    </p:spTree>
    <p:extLst>
      <p:ext uri="{BB962C8B-B14F-4D97-AF65-F5344CB8AC3E}">
        <p14:creationId xmlns:p14="http://schemas.microsoft.com/office/powerpoint/2010/main" val="1423888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0B008-D84B-4A7F-ACC8-CE65218CB820}"/>
              </a:ext>
            </a:extLst>
          </p:cNvPr>
          <p:cNvSpPr>
            <a:spLocks noGrp="1"/>
          </p:cNvSpPr>
          <p:nvPr>
            <p:ph type="title"/>
          </p:nvPr>
        </p:nvSpPr>
        <p:spPr/>
        <p:txBody>
          <a:bodyPr/>
          <a:lstStyle/>
          <a:p>
            <a:r>
              <a:rPr lang="en-US" dirty="0"/>
              <a:t>ANALYSIS</a:t>
            </a:r>
          </a:p>
        </p:txBody>
      </p:sp>
      <p:pic>
        <p:nvPicPr>
          <p:cNvPr id="6" name="Content Placeholder 5">
            <a:extLst>
              <a:ext uri="{FF2B5EF4-FFF2-40B4-BE49-F238E27FC236}">
                <a16:creationId xmlns:a16="http://schemas.microsoft.com/office/drawing/2014/main" id="{C02FDFF8-7834-49AB-9EE9-8106198E44BC}"/>
              </a:ext>
            </a:extLst>
          </p:cNvPr>
          <p:cNvPicPr>
            <a:picLocks noGrp="1" noChangeAspect="1"/>
          </p:cNvPicPr>
          <p:nvPr>
            <p:ph idx="1"/>
          </p:nvPr>
        </p:nvPicPr>
        <p:blipFill>
          <a:blip r:embed="rId2"/>
          <a:stretch>
            <a:fillRect/>
          </a:stretch>
        </p:blipFill>
        <p:spPr>
          <a:xfrm>
            <a:off x="4803648" y="2336872"/>
            <a:ext cx="6486144" cy="3746936"/>
          </a:xfrm>
        </p:spPr>
      </p:pic>
      <p:sp>
        <p:nvSpPr>
          <p:cNvPr id="4" name="Text Placeholder 3">
            <a:extLst>
              <a:ext uri="{FF2B5EF4-FFF2-40B4-BE49-F238E27FC236}">
                <a16:creationId xmlns:a16="http://schemas.microsoft.com/office/drawing/2014/main" id="{DBE1E878-F747-4AF7-B7F4-CB78E9C3DC3A}"/>
              </a:ext>
            </a:extLst>
          </p:cNvPr>
          <p:cNvSpPr>
            <a:spLocks noGrp="1"/>
          </p:cNvSpPr>
          <p:nvPr>
            <p:ph type="body" sz="half" idx="2"/>
          </p:nvPr>
        </p:nvSpPr>
        <p:spPr/>
        <p:txBody>
          <a:bodyPr>
            <a:normAutofit/>
          </a:bodyPr>
          <a:lstStyle/>
          <a:p>
            <a:pPr marL="285750" indent="-285750">
              <a:buFont typeface="Wingdings" panose="05000000000000000000" pitchFamily="2" charset="2"/>
              <a:buChar char="Ø"/>
            </a:pPr>
            <a:r>
              <a:rPr lang="en-US" sz="4000" dirty="0" smtClean="0"/>
              <a:t> TOTAL </a:t>
            </a:r>
            <a:r>
              <a:rPr lang="en-US" sz="4000" dirty="0"/>
              <a:t>DAILY DEATH CASES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74701"/>
            <a:ext cx="483299" cy="483299"/>
          </a:xfrm>
          <a:prstGeom prst="rect">
            <a:avLst/>
          </a:prstGeom>
        </p:spPr>
      </p:pic>
    </p:spTree>
    <p:extLst>
      <p:ext uri="{BB962C8B-B14F-4D97-AF65-F5344CB8AC3E}">
        <p14:creationId xmlns:p14="http://schemas.microsoft.com/office/powerpoint/2010/main" val="410191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06B43-2872-40A7-999A-F4C1D8F40FA3}"/>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2FA8386E-EA81-4421-94A9-981C5CB317A6}"/>
              </a:ext>
            </a:extLst>
          </p:cNvPr>
          <p:cNvSpPr>
            <a:spLocks noGrp="1"/>
          </p:cNvSpPr>
          <p:nvPr>
            <p:ph sz="half" idx="1"/>
          </p:nvPr>
        </p:nvSpPr>
        <p:spPr/>
        <p:txBody>
          <a:bodyPr/>
          <a:lstStyle/>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 The following line chat shows the daily infection rate in Nigeria that has occurred from January 2020- May 4</a:t>
            </a:r>
            <a:r>
              <a:rPr lang="en-US" baseline="30000" dirty="0"/>
              <a:t>th</a:t>
            </a:r>
            <a:r>
              <a:rPr lang="en-US" dirty="0"/>
              <a:t>, 2021.</a:t>
            </a:r>
          </a:p>
        </p:txBody>
      </p:sp>
      <p:pic>
        <p:nvPicPr>
          <p:cNvPr id="6" name="Content Placeholder 5">
            <a:extLst>
              <a:ext uri="{FF2B5EF4-FFF2-40B4-BE49-F238E27FC236}">
                <a16:creationId xmlns:a16="http://schemas.microsoft.com/office/drawing/2014/main" id="{AEA648BF-53E8-4FC9-9F2D-4D72E7C2A514}"/>
              </a:ext>
            </a:extLst>
          </p:cNvPr>
          <p:cNvPicPr>
            <a:picLocks noGrp="1" noChangeAspect="1"/>
          </p:cNvPicPr>
          <p:nvPr>
            <p:ph sz="half" idx="2"/>
          </p:nvPr>
        </p:nvPicPr>
        <p:blipFill>
          <a:blip r:embed="rId2"/>
          <a:stretch>
            <a:fillRect/>
          </a:stretch>
        </p:blipFill>
        <p:spPr>
          <a:xfrm>
            <a:off x="5378678" y="2426207"/>
            <a:ext cx="6471946" cy="3826973"/>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47269"/>
            <a:ext cx="510731" cy="510731"/>
          </a:xfrm>
          <a:prstGeom prst="rect">
            <a:avLst/>
          </a:prstGeom>
        </p:spPr>
      </p:pic>
    </p:spTree>
    <p:extLst>
      <p:ext uri="{BB962C8B-B14F-4D97-AF65-F5344CB8AC3E}">
        <p14:creationId xmlns:p14="http://schemas.microsoft.com/office/powerpoint/2010/main" val="593816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BECD-35FD-40F6-9603-1FF9D64DE239}"/>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142A4E3E-1E2B-4C12-ABE6-6188E5DA839A}"/>
              </a:ext>
            </a:extLst>
          </p:cNvPr>
          <p:cNvSpPr>
            <a:spLocks noGrp="1"/>
          </p:cNvSpPr>
          <p:nvPr>
            <p:ph sz="half" idx="1"/>
          </p:nvPr>
        </p:nvSpPr>
        <p:spPr/>
        <p:txBody>
          <a:bodyPr/>
          <a:lstStyle/>
          <a:p>
            <a:pPr marL="0" indent="0">
              <a:buNone/>
            </a:pPr>
            <a:r>
              <a:rPr lang="en-US" dirty="0"/>
              <a:t> </a:t>
            </a:r>
          </a:p>
          <a:p>
            <a:pPr>
              <a:buFont typeface="Wingdings" panose="05000000000000000000" pitchFamily="2" charset="2"/>
              <a:buChar char="Ø"/>
            </a:pPr>
            <a:r>
              <a:rPr lang="en-US" dirty="0"/>
              <a:t>The following analysis shows the maximum rate that occurred in January 23</a:t>
            </a:r>
            <a:r>
              <a:rPr lang="en-US" baseline="30000" dirty="0"/>
              <a:t>rd</a:t>
            </a:r>
            <a:r>
              <a:rPr lang="en-US" dirty="0"/>
              <a:t>, 2021.</a:t>
            </a:r>
          </a:p>
          <a:p>
            <a:pPr>
              <a:buFont typeface="Wingdings" panose="05000000000000000000" pitchFamily="2" charset="2"/>
              <a:buChar char="Ø"/>
            </a:pPr>
            <a:endParaRPr lang="en-US" dirty="0"/>
          </a:p>
          <a:p>
            <a:pPr>
              <a:buFont typeface="Wingdings" panose="05000000000000000000" pitchFamily="2" charset="2"/>
              <a:buChar char="Ø"/>
            </a:pPr>
            <a:r>
              <a:rPr lang="en-US" dirty="0"/>
              <a:t>The maximum infection rate recorded 2,464 new cases in January 23</a:t>
            </a:r>
            <a:r>
              <a:rPr lang="en-US" baseline="30000" dirty="0"/>
              <a:t>rd</a:t>
            </a:r>
            <a:r>
              <a:rPr lang="en-US" dirty="0"/>
              <a:t>, 2021.</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pic>
        <p:nvPicPr>
          <p:cNvPr id="6" name="Content Placeholder 5">
            <a:extLst>
              <a:ext uri="{FF2B5EF4-FFF2-40B4-BE49-F238E27FC236}">
                <a16:creationId xmlns:a16="http://schemas.microsoft.com/office/drawing/2014/main" id="{901E4A4C-AAE0-4156-83C9-379CD82073B0}"/>
              </a:ext>
            </a:extLst>
          </p:cNvPr>
          <p:cNvPicPr>
            <a:picLocks noGrp="1" noChangeAspect="1"/>
          </p:cNvPicPr>
          <p:nvPr>
            <p:ph sz="half" idx="2"/>
          </p:nvPr>
        </p:nvPicPr>
        <p:blipFill>
          <a:blip r:embed="rId2"/>
          <a:stretch>
            <a:fillRect/>
          </a:stretch>
        </p:blipFill>
        <p:spPr>
          <a:xfrm>
            <a:off x="5378678" y="2483178"/>
            <a:ext cx="6681216" cy="371035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84429"/>
            <a:ext cx="373571" cy="373571"/>
          </a:xfrm>
          <a:prstGeom prst="rect">
            <a:avLst/>
          </a:prstGeom>
        </p:spPr>
      </p:pic>
    </p:spTree>
    <p:extLst>
      <p:ext uri="{BB962C8B-B14F-4D97-AF65-F5344CB8AC3E}">
        <p14:creationId xmlns:p14="http://schemas.microsoft.com/office/powerpoint/2010/main" val="3140134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9A5E9-1E36-48A2-9768-A05B4E55C16A}"/>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C03203FE-E822-46A6-B506-A0A1797AD743}"/>
              </a:ext>
            </a:extLst>
          </p:cNvPr>
          <p:cNvSpPr>
            <a:spLocks noGrp="1"/>
          </p:cNvSpPr>
          <p:nvPr>
            <p:ph sz="half" idx="1"/>
          </p:nvPr>
        </p:nvSpPr>
        <p:spPr/>
        <p:txBody>
          <a:bodyPr/>
          <a:lstStyle/>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The following chat shows the top 10 state confirmed covid’19 cases, with overall vulnerability index.</a:t>
            </a:r>
          </a:p>
        </p:txBody>
      </p:sp>
      <p:pic>
        <p:nvPicPr>
          <p:cNvPr id="6" name="Content Placeholder 5">
            <a:extLst>
              <a:ext uri="{FF2B5EF4-FFF2-40B4-BE49-F238E27FC236}">
                <a16:creationId xmlns:a16="http://schemas.microsoft.com/office/drawing/2014/main" id="{BD28A483-1A6F-454F-865B-EBE69653435F}"/>
              </a:ext>
            </a:extLst>
          </p:cNvPr>
          <p:cNvPicPr>
            <a:picLocks noGrp="1" noChangeAspect="1"/>
          </p:cNvPicPr>
          <p:nvPr>
            <p:ph sz="half" idx="2"/>
          </p:nvPr>
        </p:nvPicPr>
        <p:blipFill>
          <a:blip r:embed="rId2"/>
          <a:stretch>
            <a:fillRect/>
          </a:stretch>
        </p:blipFill>
        <p:spPr>
          <a:xfrm>
            <a:off x="5254752" y="2157984"/>
            <a:ext cx="6156960" cy="413308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11277"/>
            <a:ext cx="446723" cy="446723"/>
          </a:xfrm>
          <a:prstGeom prst="rect">
            <a:avLst/>
          </a:prstGeom>
        </p:spPr>
      </p:pic>
    </p:spTree>
    <p:extLst>
      <p:ext uri="{BB962C8B-B14F-4D97-AF65-F5344CB8AC3E}">
        <p14:creationId xmlns:p14="http://schemas.microsoft.com/office/powerpoint/2010/main" val="3686081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9060-57FA-404F-BA64-F85E8B87626D}"/>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1B65AF75-8802-4317-8518-1551257D11F9}"/>
              </a:ext>
            </a:extLst>
          </p:cNvPr>
          <p:cNvSpPr>
            <a:spLocks noGrp="1"/>
          </p:cNvSpPr>
          <p:nvPr>
            <p:ph idx="1"/>
          </p:nvPr>
        </p:nvSpPr>
        <p:spPr/>
        <p:txBody>
          <a:bodyPr/>
          <a:lstStyle/>
          <a:p>
            <a:pPr marL="0" indent="0">
              <a:buNone/>
            </a:pP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From observation of the previous slides, Northern state has the highest vulnerability index score, in relation to the confirmed cases in Nigeria, due to the weak health systems.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35661"/>
            <a:ext cx="422339" cy="422339"/>
          </a:xfrm>
          <a:prstGeom prst="rect">
            <a:avLst/>
          </a:prstGeom>
        </p:spPr>
      </p:pic>
    </p:spTree>
    <p:extLst>
      <p:ext uri="{BB962C8B-B14F-4D97-AF65-F5344CB8AC3E}">
        <p14:creationId xmlns:p14="http://schemas.microsoft.com/office/powerpoint/2010/main" val="2298086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307C-5C19-4AF5-A17E-22006DBB4942}"/>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3573F4E6-F1B4-4CA3-A4A1-3D693EDED181}"/>
              </a:ext>
            </a:extLst>
          </p:cNvPr>
          <p:cNvSpPr>
            <a:spLocks noGrp="1"/>
          </p:cNvSpPr>
          <p:nvPr>
            <p:ph sz="half" idx="1"/>
          </p:nvPr>
        </p:nvSpPr>
        <p:spPr/>
        <p:txBody>
          <a:bodyPr/>
          <a:lstStyle/>
          <a:p>
            <a:pPr marL="0" indent="0">
              <a:buNone/>
            </a:pPr>
            <a:endParaRPr lang="en-US" dirty="0"/>
          </a:p>
          <a:p>
            <a:pPr>
              <a:buFont typeface="Wingdings" panose="05000000000000000000" pitchFamily="2" charset="2"/>
              <a:buChar char="Ø"/>
            </a:pPr>
            <a:r>
              <a:rPr lang="en-US" dirty="0"/>
              <a:t>From observation of the following chat, confirmed covid’19 cases and population density have positive correlation, and there are high cases in areas that are densely populated.</a:t>
            </a:r>
          </a:p>
        </p:txBody>
      </p:sp>
      <p:pic>
        <p:nvPicPr>
          <p:cNvPr id="6" name="Content Placeholder 5">
            <a:extLst>
              <a:ext uri="{FF2B5EF4-FFF2-40B4-BE49-F238E27FC236}">
                <a16:creationId xmlns:a16="http://schemas.microsoft.com/office/drawing/2014/main" id="{5BB36A94-97F1-45AA-864B-AC3F86B26468}"/>
              </a:ext>
            </a:extLst>
          </p:cNvPr>
          <p:cNvPicPr>
            <a:picLocks noGrp="1" noChangeAspect="1"/>
          </p:cNvPicPr>
          <p:nvPr>
            <p:ph sz="half" idx="2"/>
          </p:nvPr>
        </p:nvPicPr>
        <p:blipFill>
          <a:blip r:embed="rId2"/>
          <a:stretch>
            <a:fillRect/>
          </a:stretch>
        </p:blipFill>
        <p:spPr>
          <a:xfrm>
            <a:off x="5378678" y="2145792"/>
            <a:ext cx="6325641" cy="4120896"/>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3759"/>
            <a:ext cx="354241" cy="354241"/>
          </a:xfrm>
          <a:prstGeom prst="rect">
            <a:avLst/>
          </a:prstGeom>
        </p:spPr>
      </p:pic>
    </p:spTree>
    <p:extLst>
      <p:ext uri="{BB962C8B-B14F-4D97-AF65-F5344CB8AC3E}">
        <p14:creationId xmlns:p14="http://schemas.microsoft.com/office/powerpoint/2010/main" val="2494746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9E9A-9C56-49C5-A6F2-820D1B143267}"/>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AD625CD5-C782-4032-BC0F-02102E475ABB}"/>
              </a:ext>
            </a:extLst>
          </p:cNvPr>
          <p:cNvSpPr>
            <a:spLocks noGrp="1"/>
          </p:cNvSpPr>
          <p:nvPr>
            <p:ph sz="half" idx="1"/>
          </p:nvPr>
        </p:nvSpPr>
        <p:spPr/>
        <p:txBody>
          <a:bodyPr/>
          <a:lstStyle/>
          <a:p>
            <a:pPr>
              <a:buFont typeface="Wingdings" panose="05000000000000000000" pitchFamily="2" charset="2"/>
              <a:buChar char="Ø"/>
            </a:pPr>
            <a:r>
              <a:rPr lang="en-US" dirty="0"/>
              <a:t> The following chat shows budget reduction that affected Nigeria economy during covid’19</a:t>
            </a:r>
          </a:p>
          <a:p>
            <a:pPr>
              <a:buFont typeface="Wingdings" panose="05000000000000000000" pitchFamily="2" charset="2"/>
              <a:buChar char="Ø"/>
            </a:pPr>
            <a:endParaRPr lang="en-US" dirty="0"/>
          </a:p>
          <a:p>
            <a:pPr>
              <a:buFont typeface="Wingdings" panose="05000000000000000000" pitchFamily="2" charset="2"/>
              <a:buChar char="Ø"/>
            </a:pPr>
            <a:r>
              <a:rPr lang="en-US" dirty="0"/>
              <a:t> From observation of these chat, south west recorded the highest number of confirmed cases &amp; reduction in budget</a:t>
            </a:r>
          </a:p>
        </p:txBody>
      </p:sp>
      <p:pic>
        <p:nvPicPr>
          <p:cNvPr id="6" name="Content Placeholder 5">
            <a:extLst>
              <a:ext uri="{FF2B5EF4-FFF2-40B4-BE49-F238E27FC236}">
                <a16:creationId xmlns:a16="http://schemas.microsoft.com/office/drawing/2014/main" id="{C94B6174-D5F5-4F20-A798-2E3C2470666C}"/>
              </a:ext>
            </a:extLst>
          </p:cNvPr>
          <p:cNvPicPr>
            <a:picLocks noGrp="1" noChangeAspect="1"/>
          </p:cNvPicPr>
          <p:nvPr>
            <p:ph sz="half" idx="2"/>
          </p:nvPr>
        </p:nvPicPr>
        <p:blipFill>
          <a:blip r:embed="rId2"/>
          <a:stretch>
            <a:fillRect/>
          </a:stretch>
        </p:blipFill>
        <p:spPr>
          <a:xfrm>
            <a:off x="5598255" y="2336873"/>
            <a:ext cx="6264561" cy="3938015"/>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3759"/>
            <a:ext cx="354241" cy="354241"/>
          </a:xfrm>
          <a:prstGeom prst="rect">
            <a:avLst/>
          </a:prstGeom>
        </p:spPr>
      </p:pic>
    </p:spTree>
    <p:extLst>
      <p:ext uri="{BB962C8B-B14F-4D97-AF65-F5344CB8AC3E}">
        <p14:creationId xmlns:p14="http://schemas.microsoft.com/office/powerpoint/2010/main" val="378480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22CF-B5A0-4E86-B6F8-F1C2F674D90A}"/>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A9974C6E-124A-4100-BAE6-459338DFF871}"/>
              </a:ext>
            </a:extLst>
          </p:cNvPr>
          <p:cNvSpPr>
            <a:spLocks noGrp="1"/>
          </p:cNvSpPr>
          <p:nvPr>
            <p:ph idx="1"/>
          </p:nvPr>
        </p:nvSpPr>
        <p:spPr/>
        <p:txBody>
          <a:bodyPr/>
          <a:lstStyle/>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 South west region experienced the longest duration of lock down and government were forced to shut down the major economic activities which also served as the effect of budget reduction in south west region.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54533"/>
            <a:ext cx="303467" cy="303467"/>
          </a:xfrm>
          <a:prstGeom prst="rect">
            <a:avLst/>
          </a:prstGeom>
        </p:spPr>
      </p:pic>
    </p:spTree>
    <p:extLst>
      <p:ext uri="{BB962C8B-B14F-4D97-AF65-F5344CB8AC3E}">
        <p14:creationId xmlns:p14="http://schemas.microsoft.com/office/powerpoint/2010/main" val="1502585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7B619-6F3D-472C-AFA8-5BBFC9F547AD}"/>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0E1D553A-08F4-43A3-A7F1-ED8F872D9A44}"/>
              </a:ext>
            </a:extLst>
          </p:cNvPr>
          <p:cNvSpPr>
            <a:spLocks noGrp="1"/>
          </p:cNvSpPr>
          <p:nvPr>
            <p:ph sz="half" idx="1"/>
          </p:nvPr>
        </p:nvSpPr>
        <p:spPr/>
        <p:txBody>
          <a:bodyPr/>
          <a:lstStyle/>
          <a:p>
            <a:pPr>
              <a:buFont typeface="Wingdings" panose="05000000000000000000" pitchFamily="2" charset="2"/>
              <a:buChar char="Ø"/>
            </a:pPr>
            <a:r>
              <a:rPr lang="en-US" dirty="0"/>
              <a:t> The following chat shows the GDP on Nigeria Economy </a:t>
            </a:r>
          </a:p>
          <a:p>
            <a:pPr>
              <a:buFont typeface="Wingdings" panose="05000000000000000000" pitchFamily="2" charset="2"/>
              <a:buChar char="Ø"/>
            </a:pPr>
            <a:endParaRPr lang="en-US" dirty="0"/>
          </a:p>
          <a:p>
            <a:pPr>
              <a:buFont typeface="Wingdings" panose="05000000000000000000" pitchFamily="2" charset="2"/>
              <a:buChar char="Ø"/>
            </a:pPr>
            <a:r>
              <a:rPr lang="en-US" dirty="0"/>
              <a:t>From the following chat, Q2 (Quarter 2) of 2020 has the lowest GDP compare to other Q2 from other year due to the affection of covid’19 which started 2020</a:t>
            </a:r>
          </a:p>
        </p:txBody>
      </p:sp>
      <p:pic>
        <p:nvPicPr>
          <p:cNvPr id="6" name="Content Placeholder 5">
            <a:extLst>
              <a:ext uri="{FF2B5EF4-FFF2-40B4-BE49-F238E27FC236}">
                <a16:creationId xmlns:a16="http://schemas.microsoft.com/office/drawing/2014/main" id="{82C6B707-4271-4BCB-B797-A46237277158}"/>
              </a:ext>
            </a:extLst>
          </p:cNvPr>
          <p:cNvPicPr>
            <a:picLocks noGrp="1" noChangeAspect="1"/>
          </p:cNvPicPr>
          <p:nvPr>
            <p:ph sz="half" idx="2"/>
          </p:nvPr>
        </p:nvPicPr>
        <p:blipFill>
          <a:blip r:embed="rId2"/>
          <a:stretch>
            <a:fillRect/>
          </a:stretch>
        </p:blipFill>
        <p:spPr>
          <a:xfrm>
            <a:off x="5378678" y="2336873"/>
            <a:ext cx="6352032" cy="3844471"/>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23469"/>
            <a:ext cx="434531" cy="434531"/>
          </a:xfrm>
          <a:prstGeom prst="rect">
            <a:avLst/>
          </a:prstGeom>
        </p:spPr>
      </p:pic>
    </p:spTree>
    <p:extLst>
      <p:ext uri="{BB962C8B-B14F-4D97-AF65-F5344CB8AC3E}">
        <p14:creationId xmlns:p14="http://schemas.microsoft.com/office/powerpoint/2010/main" val="6923901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3A6A-CD53-4C55-BD35-EFAADC06D3F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2625801-8C53-4EF7-9641-D76ED1D6E0D9}"/>
              </a:ext>
            </a:extLst>
          </p:cNvPr>
          <p:cNvSpPr>
            <a:spLocks noGrp="1"/>
          </p:cNvSpPr>
          <p:nvPr>
            <p:ph idx="1"/>
          </p:nvPr>
        </p:nvSpPr>
        <p:spPr/>
        <p:txBody>
          <a:bodyPr/>
          <a:lstStyle/>
          <a:p>
            <a:pPr>
              <a:buFont typeface="Wingdings" panose="05000000000000000000" pitchFamily="2" charset="2"/>
              <a:buChar char="Ø"/>
            </a:pPr>
            <a:r>
              <a:rPr lang="en-US" dirty="0"/>
              <a:t> Lagos State has the highest number of confirmed cases</a:t>
            </a:r>
          </a:p>
          <a:p>
            <a:pPr>
              <a:buFont typeface="Wingdings" panose="05000000000000000000" pitchFamily="2" charset="2"/>
              <a:buChar char="Ø"/>
            </a:pPr>
            <a:r>
              <a:rPr lang="en-US" dirty="0"/>
              <a:t> Lagos State has the highest number of discharged cases</a:t>
            </a:r>
          </a:p>
          <a:p>
            <a:pPr>
              <a:buFont typeface="Wingdings" panose="05000000000000000000" pitchFamily="2" charset="2"/>
              <a:buChar char="Ø"/>
            </a:pPr>
            <a:r>
              <a:rPr lang="en-US" dirty="0"/>
              <a:t> Nasarawa State has the highest number of active cases</a:t>
            </a:r>
          </a:p>
          <a:p>
            <a:pPr>
              <a:buFont typeface="Wingdings" panose="05000000000000000000" pitchFamily="2" charset="2"/>
              <a:buChar char="Ø"/>
            </a:pPr>
            <a:r>
              <a:rPr lang="en-US" dirty="0"/>
              <a:t> There were increase in daily confirmed cases, recovered cases and deaths cases.</a:t>
            </a:r>
          </a:p>
          <a:p>
            <a:pPr>
              <a:buFont typeface="Wingdings" panose="05000000000000000000" pitchFamily="2" charset="2"/>
              <a:buChar char="Ø"/>
            </a:pPr>
            <a:r>
              <a:rPr lang="en-US" dirty="0"/>
              <a:t> The maximum infection rate recorded 2,464 new cases in January 23</a:t>
            </a:r>
            <a:r>
              <a:rPr lang="en-US" baseline="30000" dirty="0"/>
              <a:t>rd</a:t>
            </a:r>
            <a:r>
              <a:rPr lang="en-US" dirty="0"/>
              <a:t>, 2021.</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32613"/>
            <a:ext cx="425387" cy="425387"/>
          </a:xfrm>
          <a:prstGeom prst="rect">
            <a:avLst/>
          </a:prstGeom>
        </p:spPr>
      </p:pic>
    </p:spTree>
    <p:extLst>
      <p:ext uri="{BB962C8B-B14F-4D97-AF65-F5344CB8AC3E}">
        <p14:creationId xmlns:p14="http://schemas.microsoft.com/office/powerpoint/2010/main" val="3766961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91FAD-A86B-4DD3-9240-DCE54A15144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70091A2-C020-4459-B19A-B0EB08B2C945}"/>
              </a:ext>
            </a:extLst>
          </p:cNvPr>
          <p:cNvSpPr>
            <a:spLocks noGrp="1"/>
          </p:cNvSpPr>
          <p:nvPr>
            <p:ph idx="1"/>
          </p:nvPr>
        </p:nvSpPr>
        <p:spPr/>
        <p:txBody>
          <a:bodyPr/>
          <a:lstStyle/>
          <a:p>
            <a:pPr>
              <a:buFont typeface="Wingdings" panose="05000000000000000000" pitchFamily="2" charset="2"/>
              <a:buChar char="Ø"/>
            </a:pPr>
            <a:r>
              <a:rPr lang="en-US" dirty="0"/>
              <a:t> Northern State has the highest vulnerability index score, in relation to the confirmed cases in Nigeria, due to the weak health system.</a:t>
            </a:r>
          </a:p>
          <a:p>
            <a:pPr>
              <a:buFont typeface="Wingdings" panose="05000000000000000000" pitchFamily="2" charset="2"/>
              <a:buChar char="Ø"/>
            </a:pPr>
            <a:r>
              <a:rPr lang="en-US" dirty="0"/>
              <a:t> Lagos has a high number of confirmed cases but has a less vulnerability index score due to good health systems and performing the rule of social distancing .</a:t>
            </a:r>
          </a:p>
          <a:p>
            <a:pPr>
              <a:buFont typeface="Wingdings" panose="05000000000000000000" pitchFamily="2" charset="2"/>
              <a:buChar char="Ø"/>
            </a:pPr>
            <a:r>
              <a:rPr lang="en-US" dirty="0"/>
              <a:t> Confirmed covid’19 cases and population density have positive correlation, and there are high cases in areas that are densely populated.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96037"/>
            <a:ext cx="461963" cy="461963"/>
          </a:xfrm>
          <a:prstGeom prst="rect">
            <a:avLst/>
          </a:prstGeom>
        </p:spPr>
      </p:pic>
    </p:spTree>
    <p:extLst>
      <p:ext uri="{BB962C8B-B14F-4D97-AF65-F5344CB8AC3E}">
        <p14:creationId xmlns:p14="http://schemas.microsoft.com/office/powerpoint/2010/main" val="338156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9C325-B46C-464F-BA73-FA1438F7E4B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3BF467A-CE15-41B2-A8C8-1E19BA81BDE0}"/>
              </a:ext>
            </a:extLst>
          </p:cNvPr>
          <p:cNvSpPr>
            <a:spLocks noGrp="1"/>
          </p:cNvSpPr>
          <p:nvPr>
            <p:ph idx="1"/>
          </p:nvPr>
        </p:nvSpPr>
        <p:spPr/>
        <p:txBody>
          <a:bodyPr/>
          <a:lstStyle/>
          <a:p>
            <a:pPr>
              <a:buFont typeface="Wingdings" panose="05000000000000000000" pitchFamily="2" charset="2"/>
              <a:buChar char="Ø"/>
            </a:pPr>
            <a:r>
              <a:rPr lang="en-US" dirty="0"/>
              <a:t> South west recorded the highest number of confirmed cases &amp; reduction in budget.</a:t>
            </a:r>
          </a:p>
          <a:p>
            <a:pPr>
              <a:buFont typeface="Wingdings" panose="05000000000000000000" pitchFamily="2" charset="2"/>
              <a:buChar char="Ø"/>
            </a:pPr>
            <a:r>
              <a:rPr lang="en-US" dirty="0"/>
              <a:t> South west region experienced the longest duration of lock down and government were forced to shut down economic activities which also served as the effect of budget reduction in south west region.</a:t>
            </a:r>
          </a:p>
          <a:p>
            <a:pPr>
              <a:buFont typeface="Wingdings" panose="05000000000000000000" pitchFamily="2" charset="2"/>
              <a:buChar char="Ø"/>
            </a:pPr>
            <a:r>
              <a:rPr lang="en-US" dirty="0"/>
              <a:t> Q2 (Quarter 2) of 2020 has the lowest GDP compared to other Q2 from other year due to the affection of covid’19 which started in year 2020.</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0317"/>
            <a:ext cx="507683" cy="507683"/>
          </a:xfrm>
          <a:prstGeom prst="rect">
            <a:avLst/>
          </a:prstGeom>
        </p:spPr>
      </p:pic>
    </p:spTree>
    <p:extLst>
      <p:ext uri="{BB962C8B-B14F-4D97-AF65-F5344CB8AC3E}">
        <p14:creationId xmlns:p14="http://schemas.microsoft.com/office/powerpoint/2010/main" val="2300199391"/>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205</TotalTime>
  <Words>1112</Words>
  <Application>Microsoft Office PowerPoint</Application>
  <PresentationFormat>Widescreen</PresentationFormat>
  <Paragraphs>113</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Times New Roman</vt:lpstr>
      <vt:lpstr>Trebuchet MS</vt:lpstr>
      <vt:lpstr>Wingdings</vt:lpstr>
      <vt:lpstr>Berlin</vt:lpstr>
      <vt:lpstr>NIGERIA COVID’19</vt:lpstr>
      <vt:lpstr>OUTLINE</vt:lpstr>
      <vt:lpstr>OVERVIEW</vt:lpstr>
      <vt:lpstr>OVERVIEW</vt:lpstr>
      <vt:lpstr>DATA SOURCE</vt:lpstr>
      <vt:lpstr>DATA SOURCE</vt:lpstr>
      <vt:lpstr>DATA COLLECTION</vt:lpstr>
      <vt:lpstr>DATA CLEANING &amp; PREPARATION</vt:lpstr>
      <vt:lpstr>DATA CLEANING &amp; PREPARATION</vt:lpstr>
      <vt:lpstr>ANALYSIS</vt:lpstr>
      <vt:lpstr>ANALYSIS</vt:lpstr>
      <vt:lpstr>ANALYSIS</vt:lpstr>
      <vt:lpstr>THE NEXT SLIDE SHOWS THE FOLLOWING CHAT OF TOP ACTIVE CASES IN NIGERIA (MAY 4TH, 2021)</vt:lpstr>
      <vt:lpstr>ANALYSIS</vt:lpstr>
      <vt:lpstr>ANALYSIS</vt:lpstr>
      <vt:lpstr>ANALYSIS</vt:lpstr>
      <vt:lpstr>ANALYSIS</vt:lpstr>
      <vt:lpstr>ANALYSIS</vt:lpstr>
      <vt:lpstr>ANALYSIS</vt:lpstr>
      <vt:lpstr>ANALYSIS</vt:lpstr>
      <vt:lpstr>ANALYSIS</vt:lpstr>
      <vt:lpstr>ANALYSIS</vt:lpstr>
      <vt:lpstr>ANALYSIS</vt:lpstr>
      <vt:lpstr>ANALYSIS</vt:lpstr>
      <vt:lpstr>ANALYSIS</vt:lpstr>
      <vt:lpstr>ANALYSIS</vt:lpstr>
      <vt:lpstr>CONCLUSION</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NIGERIA COVID’19</dc:title>
  <dc:creator>Oluwafemi Taiwo</dc:creator>
  <cp:lastModifiedBy>User</cp:lastModifiedBy>
  <cp:revision>32</cp:revision>
  <dcterms:created xsi:type="dcterms:W3CDTF">2021-05-05T23:52:31Z</dcterms:created>
  <dcterms:modified xsi:type="dcterms:W3CDTF">2021-05-07T18:14:30Z</dcterms:modified>
</cp:coreProperties>
</file>